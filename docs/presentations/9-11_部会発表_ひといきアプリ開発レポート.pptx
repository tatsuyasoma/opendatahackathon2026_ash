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280160" y="5120640"/>
            <a:ext cx="3291840" cy="329184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77240"/>
            <a:ext cx="621792" cy="621792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2190" y="926470"/>
            <a:ext cx="323332" cy="32333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572768" y="75895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　アプリ開発レポート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31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9/11部会発表内容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375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熱中症見守りアプリ「ひといき」開発を通じて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822960" y="5074920"/>
            <a:ext cx="3108960" cy="0"/>
          </a:xfrm>
          <a:prstGeom prst="line">
            <a:avLst/>
          </a:prstGeom>
          <a:noFill/>
          <a:ln w="12700">
            <a:solidFill>
              <a:srgbClr val="45508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5257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発表者：</a:t>
            </a:r>
            <a:pPr indent="0" marL="0">
              <a:buNone/>
            </a:pPr>
            <a:r>
              <a:rPr lang="en-US" sz="1400" i="1" dirty="0">
                <a:solidFill>
                  <a:srgbClr val="8FA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（氏名・所属を記載）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5623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2026年9月11日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概要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「ひといき」アプリの概要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577840" cy="4434840"/>
          </a:xfrm>
          <a:prstGeom prst="roundRect">
            <a:avLst>
              <a:gd name="adj" fmla="val 2474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27000" dist="38100" dir="5400000">
              <a:srgbClr val="1E2761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家族の現在地×気象データで、離れていても見守り合える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51460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家族それぞれの現在位置と気象庁アメダスの観測データ（気温・湿度）から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熱中症の危険度を算出し、家族間で見守り合えるスマートフォンアプリ。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960120" y="397764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0646" y="4068166"/>
            <a:ext cx="221285" cy="22128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08760" y="3959352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家族全員をひとつのアプリで見守り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960120" y="459943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646" y="4689958"/>
            <a:ext cx="221285" cy="22128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08760" y="4581144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位置情報×気温・湿度で危険度を算出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960120" y="522122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0646" y="5311750"/>
            <a:ext cx="221285" cy="22128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508760" y="5202936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水分補給・休憩をワンプッシュで促す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537960" y="2148840"/>
            <a:ext cx="1060704" cy="1234440"/>
          </a:xfrm>
          <a:prstGeom prst="roundRect">
            <a:avLst>
              <a:gd name="adj" fmla="val 8621"/>
            </a:avLst>
          </a:prstGeom>
          <a:solidFill>
            <a:srgbClr val="1E276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2286000"/>
            <a:ext cx="384048" cy="38404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473952" y="27249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現在位置</a:t>
            </a:r>
            <a:endParaRPr lang="en-US" sz="950" dirty="0"/>
          </a:p>
        </p:txBody>
      </p:sp>
      <p:sp>
        <p:nvSpPr>
          <p:cNvPr id="19" name="Text 13"/>
          <p:cNvSpPr txBox="1"/>
          <p:nvPr/>
        </p:nvSpPr>
        <p:spPr>
          <a:xfrm>
            <a:off x="7598664" y="253288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4"/>
          <p:cNvSpPr/>
          <p:nvPr/>
        </p:nvSpPr>
        <p:spPr>
          <a:xfrm>
            <a:off x="7854696" y="2148840"/>
            <a:ext cx="1060704" cy="1234440"/>
          </a:xfrm>
          <a:prstGeom prst="roundRect">
            <a:avLst>
              <a:gd name="adj" fmla="val 8621"/>
            </a:avLst>
          </a:prstGeom>
          <a:solidFill>
            <a:srgbClr val="1E2761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3024" y="2286000"/>
            <a:ext cx="384048" cy="384048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790688" y="27249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アメダス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気温・湿度</a:t>
            </a:r>
            <a:endParaRPr lang="en-US" sz="950" dirty="0"/>
          </a:p>
        </p:txBody>
      </p:sp>
      <p:sp>
        <p:nvSpPr>
          <p:cNvPr id="23" name="Text 16"/>
          <p:cNvSpPr txBox="1"/>
          <p:nvPr/>
        </p:nvSpPr>
        <p:spPr>
          <a:xfrm>
            <a:off x="8915400" y="253288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9171432" y="2148840"/>
            <a:ext cx="1060704" cy="1234440"/>
          </a:xfrm>
          <a:prstGeom prst="roundRect">
            <a:avLst>
              <a:gd name="adj" fmla="val 8621"/>
            </a:avLst>
          </a:prstGeom>
          <a:solidFill>
            <a:srgbClr val="F2994A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9760" y="2286000"/>
            <a:ext cx="384048" cy="384048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9107424" y="27249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熱中症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危険度を算出</a:t>
            </a:r>
            <a:endParaRPr lang="en-US" sz="950" dirty="0"/>
          </a:p>
        </p:txBody>
      </p:sp>
      <p:sp>
        <p:nvSpPr>
          <p:cNvPr id="27" name="Text 19"/>
          <p:cNvSpPr txBox="1"/>
          <p:nvPr/>
        </p:nvSpPr>
        <p:spPr>
          <a:xfrm>
            <a:off x="10232136" y="2532888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8" name="Shape 20"/>
          <p:cNvSpPr/>
          <p:nvPr/>
        </p:nvSpPr>
        <p:spPr>
          <a:xfrm>
            <a:off x="10488168" y="2148840"/>
            <a:ext cx="1060704" cy="1234440"/>
          </a:xfrm>
          <a:prstGeom prst="roundRect">
            <a:avLst>
              <a:gd name="adj" fmla="val 8621"/>
            </a:avLst>
          </a:prstGeom>
          <a:solidFill>
            <a:srgbClr val="1E2761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26496" y="2286000"/>
            <a:ext cx="384048" cy="384048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10424160" y="2724912"/>
            <a:ext cx="1188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家族で</a:t>
            </a:r>
            <a:endParaRPr lang="en-US" sz="9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見守り合う</a:t>
            </a:r>
            <a:endParaRPr lang="en-US" sz="950" dirty="0"/>
          </a:p>
        </p:txBody>
      </p:sp>
      <p:sp>
        <p:nvSpPr>
          <p:cNvPr id="31" name="Text 22"/>
          <p:cNvSpPr txBox="1"/>
          <p:nvPr/>
        </p:nvSpPr>
        <p:spPr>
          <a:xfrm>
            <a:off x="6537960" y="37947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危険度は水色→緑→黄色→橙→赤→紫の6段階で表示し、しきい値を超えると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他のメンバーにも通知が届く。</a:t>
            </a:r>
            <a:endParaRPr lang="en-US" sz="1250" dirty="0"/>
          </a:p>
        </p:txBody>
      </p:sp>
      <p:sp>
        <p:nvSpPr>
          <p:cNvPr id="32" name="Shape 23"/>
          <p:cNvSpPr/>
          <p:nvPr/>
        </p:nvSpPr>
        <p:spPr>
          <a:xfrm>
            <a:off x="6537960" y="4709160"/>
            <a:ext cx="5029200" cy="1463040"/>
          </a:xfrm>
          <a:prstGeom prst="roundRect">
            <a:avLst>
              <a:gd name="adj" fmla="val 6250"/>
            </a:avLst>
          </a:prstGeom>
          <a:solidFill>
            <a:srgbClr val="1E2761"/>
          </a:solidFill>
          <a:ln/>
        </p:spPr>
      </p:sp>
      <p:sp>
        <p:nvSpPr>
          <p:cNvPr id="33" name="Text 24"/>
          <p:cNvSpPr txBox="1"/>
          <p:nvPr/>
        </p:nvSpPr>
        <p:spPr>
          <a:xfrm>
            <a:off x="6812280" y="4846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2026 提出作品</a:t>
            </a:r>
            <a:endParaRPr lang="en-US" sz="1200" dirty="0"/>
          </a:p>
        </p:txBody>
      </p:sp>
      <p:sp>
        <p:nvSpPr>
          <p:cNvPr id="34" name="Text 25"/>
          <p:cNvSpPr txBox="1"/>
          <p:nvPr/>
        </p:nvSpPr>
        <p:spPr>
          <a:xfrm>
            <a:off x="6812280" y="51937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開発期間：約2週間　／　開発体制：チーム開発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6812280" y="5486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開発規模：約10,000行（TypeScript／86ファイル、src配下）</a:t>
            </a:r>
            <a:endParaRPr lang="en-US" sz="1200" dirty="0"/>
          </a:p>
        </p:txBody>
      </p:sp>
      <p:sp>
        <p:nvSpPr>
          <p:cNvPr id="36" name="Text 27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37" name="Text 28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環境・技術選定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環境・技術選定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520440" cy="4297680"/>
          </a:xfrm>
          <a:prstGeom prst="roundRect">
            <a:avLst>
              <a:gd name="adj" fmla="val 311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0116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7679" y="2139239"/>
            <a:ext cx="311810" cy="31181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91640" y="20391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言語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788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TypeScript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384048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型安全な開発で、実装ミスを早期に検知しながらスピーディに開発。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89120" y="1691640"/>
            <a:ext cx="3520440" cy="4297680"/>
          </a:xfrm>
          <a:prstGeom prst="roundRect">
            <a:avLst>
              <a:gd name="adj" fmla="val 311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09160" y="2011680"/>
            <a:ext cx="566928" cy="566928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6719" y="2139239"/>
            <a:ext cx="311810" cy="31181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440680" y="20391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フレームワーク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4709160" y="2788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React Native + Expo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4709160" y="384048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Native：Android／iOS向けアプリを共通言語で開発するFW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Expo：React Native向けスマホアプリ開発ツールキット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8138160" y="1691640"/>
            <a:ext cx="3520440" cy="4297680"/>
          </a:xfrm>
          <a:prstGeom prst="roundRect">
            <a:avLst>
              <a:gd name="adj" fmla="val 311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458200" y="201168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5759" y="2139239"/>
            <a:ext cx="311810" cy="31181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9189720" y="203911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開発環境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2788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VSCode + Claude Code</a:t>
            </a:r>
            <a:endParaRPr lang="en-US" sz="19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+ Android Studio</a:t>
            </a:r>
            <a:endParaRPr lang="en-US" sz="1900" dirty="0"/>
          </a:p>
        </p:txBody>
      </p:sp>
      <p:sp>
        <p:nvSpPr>
          <p:cNvPr id="21" name="Text 16"/>
          <p:cNvSpPr txBox="1"/>
          <p:nvPr/>
        </p:nvSpPr>
        <p:spPr>
          <a:xfrm>
            <a:off x="8458200" y="384048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Codeで作成したコードを、Android Studioより起動した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エミュレータ上で動作確認。</a:t>
            </a:r>
            <a:endParaRPr lang="en-US" sz="1150" dirty="0"/>
          </a:p>
        </p:txBody>
      </p:sp>
      <p:sp>
        <p:nvSpPr>
          <p:cNvPr id="22" name="Text 17"/>
          <p:cNvSpPr txBox="1"/>
          <p:nvPr/>
        </p:nvSpPr>
        <p:spPr>
          <a:xfrm>
            <a:off x="640080" y="614476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Codeで作成したコードを、Android Studioより起動したエミュレータ上で動作確認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開発の進め方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開発の進め方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43584" y="167335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チーム内で機能要件を整理し、Specification.mdを作成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50392" y="2112264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8" name="Shape 6"/>
          <p:cNvSpPr/>
          <p:nvPr/>
        </p:nvSpPr>
        <p:spPr>
          <a:xfrm>
            <a:off x="640080" y="2350008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2350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31720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ChatGPTにて画面イメージを生成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50392" y="2770632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40080" y="3008376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0080" y="30083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43584" y="2990088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Specification.mdと画面イメージをClaude Codeに渡し、各画面モックを作成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50392" y="3429000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640080" y="3666744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" y="36667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43584" y="3648456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各画面モックに対し、1つずつ機能を追加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50392" y="4087368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40080" y="4325112"/>
            <a:ext cx="420624" cy="42062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40080" y="43251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243584" y="4306824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Studioで表示確認、Specification.mdを修正しb〜cへ戻り再確認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850392" y="4745736"/>
            <a:ext cx="0" cy="237744"/>
          </a:xfrm>
          <a:prstGeom prst="line">
            <a:avLst/>
          </a:prstGeom>
          <a:noFill/>
          <a:ln w="19050">
            <a:solidFill>
              <a:srgbClr val="CBD3E8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640080" y="4983480"/>
            <a:ext cx="420624" cy="420624"/>
          </a:xfrm>
          <a:prstGeom prst="ellipse">
            <a:avLst/>
          </a:prstGeom>
          <a:solidFill>
            <a:srgbClr val="F299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0080" y="49834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243584" y="4965192"/>
            <a:ext cx="4617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完成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989320" y="1600200"/>
            <a:ext cx="5577840" cy="4434840"/>
          </a:xfrm>
          <a:prstGeom prst="roundRect">
            <a:avLst>
              <a:gd name="adj" fmla="val 2474"/>
            </a:avLst>
          </a:prstGeom>
          <a:solidFill>
            <a:srgbClr val="F5F7F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263640" y="18013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開発プロセス概念図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589520" y="2286000"/>
            <a:ext cx="2377440" cy="548640"/>
          </a:xfrm>
          <a:prstGeom prst="roundRect">
            <a:avLst>
              <a:gd name="adj" fmla="val 13333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589520" y="228600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Specification.md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（★入力）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309360" y="32461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09360" y="3246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ChatGPT（AI）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9418320" y="32461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1E2761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418320" y="3246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Code（AI）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309360" y="411480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309360" y="41148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AppImage.png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（入出力）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418320" y="411480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CADC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418320" y="41148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Source（出力）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9418320" y="489204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F2994A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418320" y="48920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Studio</a:t>
            </a:r>
            <a:endParaRPr lang="en-US" sz="10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（Emulator）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778240" y="2834640"/>
            <a:ext cx="0" cy="201168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7223760" y="3035808"/>
            <a:ext cx="3108960" cy="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223760" y="3035808"/>
            <a:ext cx="0" cy="210312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10332720" y="3035808"/>
            <a:ext cx="0" cy="210312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7223760" y="3749040"/>
            <a:ext cx="0" cy="36576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8138160" y="4366260"/>
            <a:ext cx="0" cy="-43434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138160" y="3931920"/>
            <a:ext cx="2194560" cy="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0332720" y="3931920"/>
            <a:ext cx="0" cy="-18288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10332720" y="3749040"/>
            <a:ext cx="0" cy="36576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>
            <a:off x="10332720" y="4617720"/>
            <a:ext cx="0" cy="274320"/>
          </a:xfrm>
          <a:prstGeom prst="line">
            <a:avLst/>
          </a:prstGeom>
          <a:noFill/>
          <a:ln w="19050">
            <a:solidFill>
              <a:srgbClr val="8B97C4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>
            <a:off x="11247120" y="5143500"/>
            <a:ext cx="118872" cy="0"/>
          </a:xfrm>
          <a:prstGeom prst="line">
            <a:avLst/>
          </a:prstGeom>
          <a:noFill/>
          <a:ln w="19050">
            <a:solidFill>
              <a:srgbClr val="F2994A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11365992" y="2560320"/>
            <a:ext cx="0" cy="2583180"/>
          </a:xfrm>
          <a:prstGeom prst="line">
            <a:avLst/>
          </a:prstGeom>
          <a:noFill/>
          <a:ln w="19050">
            <a:solidFill>
              <a:srgbClr val="F2994A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9966960" y="2560320"/>
            <a:ext cx="1399032" cy="0"/>
          </a:xfrm>
          <a:prstGeom prst="line">
            <a:avLst/>
          </a:prstGeom>
          <a:noFill/>
          <a:ln w="19050">
            <a:solidFill>
              <a:srgbClr val="F2994A"/>
            </a:solidFill>
            <a:prstDash val="dash"/>
            <a:tailEnd type="triangle"/>
          </a:ln>
        </p:spPr>
      </p:sp>
      <p:sp>
        <p:nvSpPr>
          <p:cNvPr id="54" name="Text 52"/>
          <p:cNvSpPr txBox="1"/>
          <p:nvPr/>
        </p:nvSpPr>
        <p:spPr>
          <a:xfrm>
            <a:off x="10799064" y="370560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修正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56" name="Text 54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よかった点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よかった点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10881360" cy="1828800"/>
          </a:xfrm>
          <a:prstGeom prst="roundRect">
            <a:avLst>
              <a:gd name="adj" fmla="val 7000"/>
            </a:avLst>
          </a:prstGeom>
          <a:solidFill>
            <a:srgbClr val="1E2761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048256"/>
            <a:ext cx="914400" cy="91440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860" y="2253996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48840" y="2011680"/>
            <a:ext cx="9052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未経験の言語・FWから、2週間足らずでアプリ完成に到達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2148840" y="278892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言語・フレームワークのいずれも未経験の状態からのスタートだった。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3886200"/>
            <a:ext cx="10881360" cy="2103120"/>
          </a:xfrm>
          <a:prstGeom prst="roundRect">
            <a:avLst>
              <a:gd name="adj" fmla="val 6087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60120" y="4206240"/>
            <a:ext cx="777240" cy="77724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999" y="4381119"/>
            <a:ext cx="427482" cy="42748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965960" y="4160520"/>
            <a:ext cx="9235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示唆：仕様をしっかり理解できれば、誰でも即戦力になりうる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1965960" y="4800600"/>
            <a:ext cx="9235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AIコーディングを活用することで、経験の有無に関わらず「何を作りたいか」を</a:t>
            </a:r>
            <a:endParaRPr lang="en-US" sz="14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正確に言語化・整理できるメンバーが、開発を前に進める力になる。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困った点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困った点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2331720"/>
          </a:xfrm>
          <a:prstGeom prst="roundRect">
            <a:avLst>
              <a:gd name="adj" fmla="val 4706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965960"/>
            <a:ext cx="548640" cy="548640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" y="2089404"/>
            <a:ext cx="301752" cy="30175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993392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短期開発ゆえの精査不足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269748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アメダス情報取得の際、スクレイピングのような実装に着手しかけていた。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現在は静的スナップショットデータを利用する方式に変更。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263640" y="1691640"/>
            <a:ext cx="5257800" cy="2331720"/>
          </a:xfrm>
          <a:prstGeom prst="roundRect">
            <a:avLst>
              <a:gd name="adj" fmla="val 4706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19659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1404" y="2089404"/>
            <a:ext cx="301752" cy="3017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69480" y="1993392"/>
            <a:ext cx="3977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生成AIのトークンが溶けた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583680" y="269748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機能追加そのものは大きく消費しないが、コンテキストが肥大化する作業</a:t>
            </a:r>
            <a:endParaRPr lang="en-US" sz="13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（大きなデータ／ログをそのまま読込、長いチャットの継続）で急増する。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251960"/>
            <a:ext cx="10881360" cy="1737360"/>
          </a:xfrm>
          <a:prstGeom prst="roundRect">
            <a:avLst>
              <a:gd name="adj" fmla="val 6316"/>
            </a:avLst>
          </a:prstGeom>
          <a:solidFill>
            <a:srgbClr val="1E2761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914400" y="44348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用語メモ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914400" y="480060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コンテキスト：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AIが一度に参照できる情報の「器・上限」</a:t>
            </a:r>
            <a:endParaRPr lang="en-US" sz="14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トークン：</a:t>
            </a:r>
            <a:pPr indent="0" marL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その中に入っている情報の「量」の単位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提案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新人研修としての社内ハッカソン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94960" cy="4434840"/>
          </a:xfrm>
          <a:prstGeom prst="roundRect">
            <a:avLst>
              <a:gd name="adj" fmla="val 2474"/>
            </a:avLst>
          </a:prstGeom>
          <a:solidFill>
            <a:srgbClr val="F5F7FC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96596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" y="2089404"/>
            <a:ext cx="301752" cy="30175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199339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実施イメージ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960120" y="2816352"/>
            <a:ext cx="128016" cy="128016"/>
          </a:xfrm>
          <a:prstGeom prst="ellipse">
            <a:avLst/>
          </a:prstGeom>
          <a:solidFill>
            <a:srgbClr val="F2994A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1234440" y="267004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SIS事業本部の配属メンバーを2〜3チーム（各3〜5名）に分けて開発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960120" y="3730752"/>
            <a:ext cx="128016" cy="128016"/>
          </a:xfrm>
          <a:prstGeom prst="ellipse">
            <a:avLst/>
          </a:prstGeom>
          <a:solidFill>
            <a:srgbClr val="F2994A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1234440" y="358444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期間は1か月程度／中間・本番の2回発表でコンテスト形式、週1で進捗報告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60120" y="4645152"/>
            <a:ext cx="128016" cy="128016"/>
          </a:xfrm>
          <a:prstGeom prst="ellipse">
            <a:avLst/>
          </a:prstGeom>
          <a:solidFill>
            <a:srgbClr val="F2994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234440" y="4498848"/>
            <a:ext cx="4480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63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有用なプロダクトは、今後の本実装を検討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914400" y="5486400"/>
            <a:ext cx="4846320" cy="502920"/>
          </a:xfrm>
          <a:prstGeom prst="roundRect">
            <a:avLst>
              <a:gd name="adj" fmla="val 14545"/>
            </a:avLst>
          </a:prstGeom>
          <a:solidFill>
            <a:srgbClr val="CADCFC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51560" y="551383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備考：ゼロからでは難しい場合、初心者向けハッカソンの公募から選ぶのも一案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（例：CraftStadium 初心者向けハッカソン一覧）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309360" y="1691640"/>
            <a:ext cx="5212080" cy="4434840"/>
          </a:xfrm>
          <a:prstGeom prst="roundRect">
            <a:avLst>
              <a:gd name="adj" fmla="val 2474"/>
            </a:avLst>
          </a:prstGeom>
          <a:solidFill>
            <a:srgbClr val="1E276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29400" y="1965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期待できるメリット</a:t>
            </a:r>
            <a:endParaRPr lang="en-US" sz="1700" dirty="0"/>
          </a:p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606040"/>
            <a:ext cx="292608" cy="29260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040880" y="25511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自分たちで要件を考え、形にする成功体験ができる</a:t>
            </a:r>
            <a:endParaRPr lang="en-US" sz="130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3291840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040880" y="32369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本実装の可能性があれば、当事者意識を持って取り組める</a:t>
            </a:r>
            <a:endParaRPr lang="en-US" sz="130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9400" y="3977640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7040880" y="39227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AIコーディング（バイブコーディング）に実践形式で慣れる</a:t>
            </a:r>
            <a:endParaRPr lang="en-US" sz="1300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9400" y="4663440"/>
            <a:ext cx="292608" cy="292608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040880" y="46085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チーム対抗形式が、新人同士の横のつながりを作る</a:t>
            </a:r>
            <a:endParaRPr lang="en-US" sz="13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29400" y="5349240"/>
            <a:ext cx="292608" cy="292608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040880" y="5294376"/>
            <a:ext cx="4160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進捗報告・発表資料の作成経験も積める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29" name="Text 21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645920"/>
            <a:ext cx="4023360" cy="4023360"/>
          </a:xfrm>
          <a:prstGeom prst="ellipse">
            <a:avLst/>
          </a:prstGeom>
          <a:solidFill>
            <a:srgbClr val="26306E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640080"/>
            <a:ext cx="566928" cy="566928"/>
          </a:xfrm>
          <a:prstGeom prst="ellipse">
            <a:avLst/>
          </a:prstGeom>
          <a:solidFill>
            <a:srgbClr val="F2994A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9023" y="776143"/>
            <a:ext cx="294803" cy="29480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536192" y="62179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まとめ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123444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AI駆動開発で変わる、人間の役割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822960" y="228600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27317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097280" y="22860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AI駆動の開発を体感できたことは、大変貴重な経験だった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822960" y="320040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27317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97280" y="32004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反面、AIがほぼやってくれるので「正直、僕はいらんなぁ…」と思う場面もしばしば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822960" y="411480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27317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097280" y="41148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今後人間にとって大事なのは、何を作りたいのかをぶれずにコントロールすること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822960" y="5029200"/>
            <a:ext cx="10515600" cy="777240"/>
          </a:xfrm>
          <a:prstGeom prst="roundRect">
            <a:avLst>
              <a:gd name="adj" fmla="val 9412"/>
            </a:avLst>
          </a:prstGeom>
          <a:solidFill>
            <a:srgbClr val="F2994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1097280" y="50292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＝自分が作業者ではなく、AIをコントロールする「管理者」となる必要がある</a:t>
            </a:r>
            <a:endParaRPr lang="en-US" sz="1450" dirty="0"/>
          </a:p>
        </p:txBody>
      </p:sp>
      <p:sp>
        <p:nvSpPr>
          <p:cNvPr id="15" name="Text 12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例）実装してほしい動作をちゃんと実装してくれているか／良かれと思って余計な作業をさせていないか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99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参考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参考リンク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10881360" cy="1508760"/>
          </a:xfrm>
          <a:prstGeom prst="roundRect">
            <a:avLst>
              <a:gd name="adj" fmla="val 7273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56032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4430" y="2754630"/>
            <a:ext cx="388620" cy="3886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011680" y="245059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ハッカソン提出プレゼン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2011680" y="297180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青柳さんのソロパート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977640"/>
            <a:ext cx="10881360" cy="1508760"/>
          </a:xfrm>
          <a:prstGeom prst="roundRect">
            <a:avLst>
              <a:gd name="adj" fmla="val 7273"/>
            </a:avLst>
          </a:prstGeom>
          <a:solidFill>
            <a:srgbClr val="F5F7FC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60120" y="4343400"/>
            <a:ext cx="777240" cy="77724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430" y="4537710"/>
            <a:ext cx="388620" cy="3886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011680" y="4233672"/>
            <a:ext cx="9052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デモ動画リンク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2011680" y="4754880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TatsuyaSoma/OpenDataHackathon2026_ASH — /demo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詳細はリポジトリ内 README.md／demo フォルダを参照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都知事杯オープンデータハッカソン アプリ開発レポート</a:t>
            </a:r>
            <a:endParaRPr lang="en-US" sz="900" dirty="0"/>
          </a:p>
        </p:txBody>
      </p:sp>
      <p:sp>
        <p:nvSpPr>
          <p:cNvPr id="16" name="Text 12"/>
          <p:cNvSpPr txBox="1"/>
          <p:nvPr/>
        </p:nvSpPr>
        <p:spPr>
          <a:xfrm>
            <a:off x="11368735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5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2026-09-04T01:56:00Z</dcterms:created>
  <dcterms:modified xsi:type="dcterms:W3CDTF">2026-09-04T01:56:00Z</dcterms:modified>
</cp:coreProperties>
</file>